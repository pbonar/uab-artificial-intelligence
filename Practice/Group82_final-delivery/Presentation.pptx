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0"/>
  </p:notesMasterIdLst>
  <p:handoutMasterIdLst>
    <p:handoutMasterId r:id="rId21"/>
  </p:handoutMasterIdLst>
  <p:sldIdLst>
    <p:sldId id="410" r:id="rId5"/>
    <p:sldId id="383" r:id="rId6"/>
    <p:sldId id="415" r:id="rId7"/>
    <p:sldId id="414" r:id="rId8"/>
    <p:sldId id="421" r:id="rId9"/>
    <p:sldId id="422" r:id="rId10"/>
    <p:sldId id="420" r:id="rId11"/>
    <p:sldId id="423" r:id="rId12"/>
    <p:sldId id="424" r:id="rId13"/>
    <p:sldId id="425" r:id="rId14"/>
    <p:sldId id="426" r:id="rId15"/>
    <p:sldId id="418" r:id="rId16"/>
    <p:sldId id="406" r:id="rId17"/>
    <p:sldId id="408" r:id="rId18"/>
    <p:sldId id="416" r:id="rId1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2E207-806B-5DF1-E3E8-DCF7F063005E}" v="248" dt="2025-05-19T18:58:07.187"/>
    <p1510:client id="{1C40D763-EFCA-C50A-0F98-418BEE279136}" v="401" dt="2025-05-19T21:37:25.347"/>
    <p1510:client id="{8DE965E1-BD5B-198F-C7A5-97B0D4FD68E2}" v="902" dt="2025-05-19T21:39:23.139"/>
    <p1510:client id="{99E5F8A7-D41B-729D-BE37-EE5A802CA2DC}" v="279" dt="2025-05-19T21:26:35.149"/>
    <p1510:client id="{B35E021A-3CD1-C7F9-3ED7-C2C77F033318}" v="334" dt="2025-05-19T20:37:00.114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70531801-FE4C-4664-85B7-A6D1500E9220}" type="datetime1">
              <a:rPr lang="es-ES" smtClean="0"/>
              <a:t>19/05/2025</a:t>
            </a:fld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‹#›</a:t>
            </a:fld>
            <a:endParaRPr lang="es-ES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9EB6C11-9A80-426C-AD15-F8F957430FC7}" type="datetime1">
              <a:rPr lang="es-ES" smtClean="0"/>
              <a:t>19/05/2025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1792-6595-E38E-91F4-88768E9D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A8AA7B-7DFE-49A2-A56F-24CD3D4C7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B49647-B729-53DF-C9C4-0B2599234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1838B7-8AC3-A120-88F8-450844351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8755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C04F-61AE-7340-6850-2E9635F7C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71BFEA-634D-FA91-9A9D-D4A9CEE1A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6DF372-960F-0287-C625-09F722485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EDB399-3754-3BBE-9394-F61E8D898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8641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E7E2-6B07-CD02-097D-FCAA2A04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FBEB28-D1CB-06D0-8653-A0A07BD36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EEAAA8-3D45-6522-578E-42C030D16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3AD7F7-E406-6399-24A1-ECAEF1105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3722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/>
              <a:t>AI Project2: </a:t>
            </a:r>
            <a:r>
              <a:rPr lang="es-ES" err="1"/>
              <a:t>Labelling</a:t>
            </a:r>
            <a:endParaRPr lang="ca-ES" err="1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B2DC9F8-DDC4-5111-A4E3-1EBA46D3DD06}"/>
              </a:ext>
            </a:extLst>
          </p:cNvPr>
          <p:cNvSpPr txBox="1">
            <a:spLocks/>
          </p:cNvSpPr>
          <p:nvPr/>
        </p:nvSpPr>
        <p:spPr>
          <a:xfrm>
            <a:off x="6314137" y="4003462"/>
            <a:ext cx="5496983" cy="95292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r>
              <a:rPr lang="ca-ES" sz="1400"/>
              <a:t>Authors:</a:t>
            </a:r>
            <a:br>
              <a:rPr lang="en-US"/>
            </a:br>
            <a:r>
              <a:rPr lang="en-US" sz="1400" b="0">
                <a:latin typeface="Aptos"/>
              </a:rPr>
              <a:t>Piotr Mateusz Bonar – NIU: 1759684</a:t>
            </a:r>
            <a:br>
              <a:rPr lang="en-US" sz="1400" b="0">
                <a:latin typeface="Aptos"/>
              </a:rPr>
            </a:br>
            <a:r>
              <a:rPr lang="en-US" sz="1400" b="0">
                <a:latin typeface="Aptos"/>
              </a:rPr>
              <a:t>Tom Kurowski– NIU:1761154</a:t>
            </a:r>
            <a:br>
              <a:rPr lang="en-US" sz="1400" b="0">
                <a:latin typeface="Aptos"/>
              </a:rPr>
            </a:br>
            <a:r>
              <a:rPr lang="en-US" sz="1400" b="0">
                <a:latin typeface="Aptos"/>
              </a:rPr>
              <a:t>Marek Tutka– NIU: 1733158</a:t>
            </a:r>
            <a:endParaRPr lang="ca-ES" sz="1400" b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/>
              <a:t>Agenda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vert="horz" lIns="0" tIns="457200" rIns="0" bIns="0" rtlCol="0" anchor="t">
            <a:normAutofit/>
          </a:bodyPr>
          <a:lstStyle>
            <a:defPPr>
              <a:defRPr lang="es-ES"/>
            </a:defPPr>
          </a:lstStyle>
          <a:p>
            <a:pPr marL="283210" indent="-283210"/>
            <a:r>
              <a:rPr lang="es-ES" err="1"/>
              <a:t>Problem</a:t>
            </a:r>
            <a:r>
              <a:rPr lang="es-ES"/>
              <a:t> Introduction</a:t>
            </a:r>
          </a:p>
          <a:p>
            <a:pPr marL="283210" indent="-283210" rtl="0"/>
            <a:r>
              <a:rPr lang="es-ES" err="1"/>
              <a:t>Modifications</a:t>
            </a:r>
            <a:endParaRPr lang="es-ES"/>
          </a:p>
          <a:p>
            <a:pPr marL="283210" indent="-283210"/>
            <a:r>
              <a:rPr lang="es-ES" err="1"/>
              <a:t>Shape</a:t>
            </a:r>
            <a:r>
              <a:rPr lang="es-ES"/>
              <a:t> </a:t>
            </a:r>
            <a:r>
              <a:rPr lang="es-ES" err="1"/>
              <a:t>analysis</a:t>
            </a:r>
            <a:endParaRPr lang="es-ES"/>
          </a:p>
          <a:p>
            <a:pPr marL="283210" indent="-283210"/>
            <a:r>
              <a:rPr lang="es-ES"/>
              <a:t>Color </a:t>
            </a:r>
            <a:r>
              <a:rPr lang="es-ES" err="1"/>
              <a:t>analysis</a:t>
            </a:r>
            <a:endParaRPr lang="es-ES"/>
          </a:p>
          <a:p>
            <a:pPr marL="283210" indent="-283210"/>
            <a:r>
              <a:rPr lang="es-ES" err="1"/>
              <a:t>Shape</a:t>
            </a:r>
            <a:r>
              <a:rPr lang="es-ES"/>
              <a:t> and color 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3D8D-D961-FBC4-BD4C-22CF8408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81F16-D68E-8E23-006B-92175F234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ES"/>
              <a:t>Problem </a:t>
            </a:r>
            <a:r>
              <a:rPr lang="es-ES" err="1"/>
              <a:t>Introduction</a:t>
            </a:r>
            <a:endParaRPr lang="ca-ES" err="1"/>
          </a:p>
        </p:txBody>
      </p:sp>
      <p:pic>
        <p:nvPicPr>
          <p:cNvPr id="4" name="Imatge 3" descr="Imatge que conté Telèfon mòbil, Dispositiu de comunicació, artefacte, Dispositiu mòbil&#10;&#10;Pot ser que el contingut generat per IA no sigui correcte.">
            <a:extLst>
              <a:ext uri="{FF2B5EF4-FFF2-40B4-BE49-F238E27FC236}">
                <a16:creationId xmlns:a16="http://schemas.microsoft.com/office/drawing/2014/main" id="{FF7A3175-EBE2-0BD5-4B04-B84EB2173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40" y="-11113"/>
            <a:ext cx="3646519" cy="68802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8370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979A-E4D1-D4FC-4F71-2DF62FE3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B66368D-0C11-29A9-851C-2D3F4746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Modifications – KNN 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8ABA0E1D-31B7-81CB-02E0-48421CAB137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228600" rIns="0" bIns="0" rtlCol="0" anchor="t">
            <a:normAutofit/>
          </a:bodyPr>
          <a:lstStyle/>
          <a:p>
            <a:pPr marL="283210" indent="-283210"/>
            <a:r>
              <a:rPr lang="ca-ES"/>
              <a:t>Implemented Manhattan distance in additon to the Euclidean distance</a:t>
            </a:r>
          </a:p>
          <a:p>
            <a:pPr marL="283210" indent="-283210"/>
            <a:r>
              <a:rPr lang="ca-ES"/>
              <a:t>Manhattan distance computes the absolute difference accross all dimensions and is knwon to be more robust to outliers in certain contexts</a:t>
            </a:r>
          </a:p>
          <a:p>
            <a:pPr marL="283210" indent="-283210"/>
            <a:r>
              <a:rPr lang="ca-ES"/>
              <a:t>Evaluation of both metrics accross different values of k</a:t>
            </a:r>
          </a:p>
        </p:txBody>
      </p:sp>
    </p:spTree>
    <p:extLst>
      <p:ext uri="{BB962C8B-B14F-4D97-AF65-F5344CB8AC3E}">
        <p14:creationId xmlns:p14="http://schemas.microsoft.com/office/powerpoint/2010/main" val="62248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804E1-09FA-473C-CD6B-06F4CA91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0749420D-ED25-BF13-7C58-3D9B097C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Modifications – KNN </a:t>
            </a:r>
          </a:p>
        </p:txBody>
      </p:sp>
      <p:pic>
        <p:nvPicPr>
          <p:cNvPr id="6" name="Contenidor de contingut 5">
            <a:extLst>
              <a:ext uri="{FF2B5EF4-FFF2-40B4-BE49-F238E27FC236}">
                <a16:creationId xmlns:a16="http://schemas.microsoft.com/office/drawing/2014/main" id="{CC887F00-F40F-89BE-56A0-C3D722B02E2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87100" y="2281918"/>
            <a:ext cx="6402266" cy="3708517"/>
          </a:xfrm>
        </p:spPr>
      </p:pic>
    </p:spTree>
    <p:extLst>
      <p:ext uri="{BB962C8B-B14F-4D97-AF65-F5344CB8AC3E}">
        <p14:creationId xmlns:p14="http://schemas.microsoft.com/office/powerpoint/2010/main" val="309184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A26E-1BB1-C053-6871-35FE1730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EB505FD-54E3-D629-17DC-1278AF6F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Modifications – KNN 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AB5490C2-C565-E19D-95A8-D4FD0F2C60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228600" rIns="0" bIns="0" rtlCol="0" anchor="t">
            <a:normAutofit/>
          </a:bodyPr>
          <a:lstStyle/>
          <a:p>
            <a:pPr marL="283210" indent="-283210"/>
            <a:r>
              <a:rPr lang="ca-ES" err="1"/>
              <a:t>Manhattan</a:t>
            </a:r>
            <a:r>
              <a:rPr lang="ca-ES"/>
              <a:t> </a:t>
            </a:r>
            <a:r>
              <a:rPr lang="ca-ES" err="1"/>
              <a:t>performed</a:t>
            </a:r>
            <a:r>
              <a:rPr lang="ca-ES"/>
              <a:t> </a:t>
            </a:r>
            <a:r>
              <a:rPr lang="ca-ES" err="1"/>
              <a:t>slightly</a:t>
            </a:r>
            <a:r>
              <a:rPr lang="ca-ES"/>
              <a:t> </a:t>
            </a:r>
            <a:r>
              <a:rPr lang="ca-ES" err="1"/>
              <a:t>worse</a:t>
            </a:r>
            <a:r>
              <a:rPr lang="ca-ES"/>
              <a:t> </a:t>
            </a:r>
            <a:r>
              <a:rPr lang="ca-ES" err="1"/>
              <a:t>than</a:t>
            </a:r>
            <a:r>
              <a:rPr lang="ca-ES"/>
              <a:t> </a:t>
            </a:r>
            <a:r>
              <a:rPr lang="ca-ES" err="1"/>
              <a:t>Euclidean</a:t>
            </a:r>
            <a:r>
              <a:rPr lang="ca-ES"/>
              <a:t> (especially k = 1-4)</a:t>
            </a:r>
          </a:p>
          <a:p>
            <a:pPr marL="283210" indent="-283210"/>
            <a:r>
              <a:rPr lang="ca-ES" err="1">
                <a:latin typeface="Franklin Gothic Book"/>
              </a:rPr>
              <a:t>Manhattan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distances</a:t>
            </a:r>
            <a:r>
              <a:rPr lang="ca-ES">
                <a:latin typeface="Franklin Gothic Book"/>
              </a:rPr>
              <a:t> can </a:t>
            </a:r>
            <a:r>
              <a:rPr lang="ca-ES" err="1">
                <a:latin typeface="Franklin Gothic Book"/>
              </a:rPr>
              <a:t>become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less</a:t>
            </a:r>
            <a:r>
              <a:rPr lang="ca-ES">
                <a:latin typeface="Franklin Gothic Book"/>
              </a:rPr>
              <a:t>  informative because the differences  </a:t>
            </a:r>
            <a:r>
              <a:rPr lang="ca-ES" err="1">
                <a:latin typeface="Franklin Gothic Book"/>
              </a:rPr>
              <a:t>across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many</a:t>
            </a:r>
            <a:r>
              <a:rPr lang="ca-ES">
                <a:latin typeface="Franklin Gothic Book"/>
              </a:rPr>
              <a:t> dimensions </a:t>
            </a:r>
            <a:r>
              <a:rPr lang="ca-ES" err="1">
                <a:latin typeface="Franklin Gothic Book"/>
              </a:rPr>
              <a:t>accumulate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evenly</a:t>
            </a:r>
          </a:p>
          <a:p>
            <a:pPr marL="283210" indent="-283210"/>
            <a:r>
              <a:rPr lang="ca-ES" err="1">
                <a:latin typeface="Franklin Gothic Book"/>
              </a:rPr>
              <a:t>Euclidean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distance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penalizes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larger</a:t>
            </a:r>
            <a:r>
              <a:rPr lang="ca-ES">
                <a:latin typeface="Franklin Gothic Book"/>
              </a:rPr>
              <a:t>  </a:t>
            </a:r>
            <a:r>
              <a:rPr lang="ca-ES" err="1">
                <a:latin typeface="Franklin Gothic Book"/>
              </a:rPr>
              <a:t>differences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more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strongly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due</a:t>
            </a:r>
            <a:r>
              <a:rPr lang="ca-ES">
                <a:latin typeface="Franklin Gothic Book"/>
              </a:rPr>
              <a:t> to </a:t>
            </a:r>
            <a:r>
              <a:rPr lang="ca-ES" err="1">
                <a:latin typeface="Franklin Gothic Book"/>
              </a:rPr>
              <a:t>squaring</a:t>
            </a:r>
            <a:r>
              <a:rPr lang="ca-ES">
                <a:latin typeface="Franklin Gothic Book"/>
              </a:rPr>
              <a:t>,  which may help emphasize meaningful pixel-level variations in grayscale images of clothing</a:t>
            </a:r>
          </a:p>
        </p:txBody>
      </p:sp>
    </p:spTree>
    <p:extLst>
      <p:ext uri="{BB962C8B-B14F-4D97-AF65-F5344CB8AC3E}">
        <p14:creationId xmlns:p14="http://schemas.microsoft.com/office/powerpoint/2010/main" val="913146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A4B56-E4B9-1F2E-7AFB-3D27F192A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15E93BF9-A7ED-3B5A-C439-881EC7939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976672" cy="1562020"/>
          </a:xfrm>
        </p:spPr>
        <p:txBody>
          <a:bodyPr/>
          <a:lstStyle/>
          <a:p>
            <a:r>
              <a:rPr lang="ca-ES" err="1"/>
              <a:t>Modifications</a:t>
            </a:r>
            <a:r>
              <a:rPr lang="ca-ES"/>
              <a:t> – </a:t>
            </a:r>
            <a:r>
              <a:rPr lang="ca-ES" err="1"/>
              <a:t>KMeans</a:t>
            </a:r>
            <a:r>
              <a:rPr lang="ca-ES"/>
              <a:t> I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E34CC8AD-5EDA-9972-8DDB-ACD648A001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6787747" cy="4350864"/>
          </a:xfrm>
        </p:spPr>
        <p:txBody>
          <a:bodyPr vert="horz" lIns="0" tIns="228600" rIns="0" bIns="0" rtlCol="0" anchor="t">
            <a:normAutofit/>
          </a:bodyPr>
          <a:lstStyle/>
          <a:p>
            <a:pPr marL="283210" indent="-283210"/>
            <a:r>
              <a:rPr lang="ca-ES">
                <a:latin typeface="Franklin Gothic Book"/>
              </a:rPr>
              <a:t>We implemented </a:t>
            </a:r>
            <a:r>
              <a:rPr lang="ca-ES" err="1">
                <a:latin typeface="Franklin Gothic Book"/>
              </a:rPr>
              <a:t>two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additional</a:t>
            </a:r>
            <a:r>
              <a:rPr lang="ca-ES">
                <a:latin typeface="Franklin Gothic Book"/>
              </a:rPr>
              <a:t> </a:t>
            </a:r>
            <a:r>
              <a:rPr lang="ca-ES" err="1">
                <a:latin typeface="Franklin Gothic Book"/>
              </a:rPr>
              <a:t>heuristics</a:t>
            </a:r>
            <a:r>
              <a:rPr lang="ca-ES">
                <a:latin typeface="Franklin Gothic Book"/>
              </a:rPr>
              <a:t> to determine the optimal number of clusters (K)</a:t>
            </a:r>
          </a:p>
          <a:p>
            <a:pPr marL="283210" indent="-283210"/>
            <a:r>
              <a:rPr lang="ca-ES">
                <a:latin typeface="Franklin Gothic Book"/>
              </a:rPr>
              <a:t>Inter-Class </a:t>
            </a:r>
            <a:r>
              <a:rPr lang="ca-ES" err="1">
                <a:latin typeface="Franklin Gothic Book"/>
              </a:rPr>
              <a:t>Distance</a:t>
            </a:r>
            <a:r>
              <a:rPr lang="ca-ES">
                <a:latin typeface="Franklin Gothic Book"/>
              </a:rPr>
              <a:t> (ICD), </a:t>
            </a:r>
            <a:r>
              <a:rPr lang="ca-ES" err="1">
                <a:latin typeface="Franklin Gothic Book"/>
              </a:rPr>
              <a:t>which</a:t>
            </a:r>
            <a:r>
              <a:rPr lang="ca-ES">
                <a:latin typeface="Franklin Gothic Book"/>
              </a:rPr>
              <a:t> </a:t>
            </a:r>
            <a:r>
              <a:rPr lang="ca-ES" err="1">
                <a:latin typeface="Franklin Gothic Book"/>
              </a:rPr>
              <a:t>measures</a:t>
            </a:r>
            <a:r>
              <a:rPr lang="ca-ES">
                <a:latin typeface="Franklin Gothic Book"/>
              </a:rPr>
              <a:t> </a:t>
            </a:r>
            <a:r>
              <a:rPr lang="ca-ES" err="1">
                <a:latin typeface="Franklin Gothic Book"/>
              </a:rPr>
              <a:t>the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average</a:t>
            </a:r>
            <a:r>
              <a:rPr lang="ca-ES">
                <a:latin typeface="Franklin Gothic Book"/>
              </a:rPr>
              <a:t> </a:t>
            </a:r>
            <a:r>
              <a:rPr lang="ca-ES" err="1">
                <a:latin typeface="Franklin Gothic Book"/>
              </a:rPr>
              <a:t>pairwise</a:t>
            </a:r>
            <a:r>
              <a:rPr lang="ca-ES">
                <a:latin typeface="Franklin Gothic Book"/>
              </a:rPr>
              <a:t> </a:t>
            </a:r>
            <a:r>
              <a:rPr lang="ca-ES" err="1">
                <a:latin typeface="Franklin Gothic Book"/>
              </a:rPr>
              <a:t>distance</a:t>
            </a:r>
            <a:r>
              <a:rPr lang="ca-ES">
                <a:latin typeface="Franklin Gothic Book"/>
              </a:rPr>
              <a:t> </a:t>
            </a:r>
            <a:r>
              <a:rPr lang="ca-ES" err="1">
                <a:latin typeface="Franklin Gothic Book"/>
              </a:rPr>
              <a:t>between</a:t>
            </a:r>
            <a:r>
              <a:rPr lang="ca-ES">
                <a:latin typeface="Franklin Gothic Book"/>
              </a:rPr>
              <a:t> all </a:t>
            </a:r>
            <a:r>
              <a:rPr lang="ca-ES" err="1">
                <a:latin typeface="Franklin Gothic Book"/>
              </a:rPr>
              <a:t>centroids</a:t>
            </a:r>
          </a:p>
          <a:p>
            <a:pPr marL="283210" indent="-283210"/>
            <a:r>
              <a:rPr lang="ca-ES">
                <a:latin typeface="Franklin Gothic Book"/>
              </a:rPr>
              <a:t>Fisher </a:t>
            </a:r>
            <a:r>
              <a:rPr lang="ca-ES" err="1">
                <a:latin typeface="Franklin Gothic Book"/>
              </a:rPr>
              <a:t>Criterion</a:t>
            </a:r>
            <a:r>
              <a:rPr lang="ca-ES">
                <a:latin typeface="Franklin Gothic Book"/>
              </a:rPr>
              <a:t>, </a:t>
            </a:r>
            <a:r>
              <a:rPr lang="ca-ES" err="1">
                <a:latin typeface="Franklin Gothic Book"/>
              </a:rPr>
              <a:t>which</a:t>
            </a:r>
            <a:r>
              <a:rPr lang="ca-ES">
                <a:latin typeface="Franklin Gothic Book"/>
              </a:rPr>
              <a:t> balances </a:t>
            </a:r>
            <a:r>
              <a:rPr lang="ca-ES" err="1">
                <a:latin typeface="Franklin Gothic Book"/>
              </a:rPr>
              <a:t>intra-cluster</a:t>
            </a:r>
            <a:r>
              <a:rPr lang="ca-ES">
                <a:latin typeface="Franklin Gothic Book"/>
              </a:rPr>
              <a:t> </a:t>
            </a:r>
            <a:r>
              <a:rPr lang="ca-ES" err="1">
                <a:latin typeface="Franklin Gothic Book"/>
              </a:rPr>
              <a:t>compactness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with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inter-cluster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separation</a:t>
            </a:r>
            <a:r>
              <a:rPr lang="ca-ES">
                <a:latin typeface="Franklin Gothic Book"/>
              </a:rPr>
              <a:t> (</a:t>
            </a:r>
            <a:r>
              <a:rPr lang="ca-ES" err="1">
                <a:latin typeface="Franklin Gothic Book"/>
              </a:rPr>
              <a:t>ratio</a:t>
            </a:r>
            <a:r>
              <a:rPr lang="ca-ES">
                <a:latin typeface="Franklin Gothic Book"/>
              </a:rPr>
              <a:t> </a:t>
            </a:r>
            <a:r>
              <a:rPr lang="ca-ES" err="1">
                <a:latin typeface="Franklin Gothic Book"/>
              </a:rPr>
              <a:t>between</a:t>
            </a:r>
            <a:r>
              <a:rPr lang="ca-ES">
                <a:latin typeface="Franklin Gothic Book"/>
              </a:rPr>
              <a:t> WCD </a:t>
            </a:r>
            <a:r>
              <a:rPr lang="ca-ES" err="1">
                <a:latin typeface="Franklin Gothic Book"/>
              </a:rPr>
              <a:t>and</a:t>
            </a:r>
            <a:r>
              <a:rPr lang="ca-ES">
                <a:latin typeface="Franklin Gothic Book"/>
              </a:rPr>
              <a:t> ICD)</a:t>
            </a:r>
          </a:p>
          <a:p>
            <a:pPr marL="283210" indent="-283210"/>
            <a:endParaRPr lang="ca-ES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4043613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DEDC-27B2-9AEC-EB2C-8A13F6CC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3948742-EC18-43DD-5EB1-F91D03CA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976672" cy="1562020"/>
          </a:xfrm>
        </p:spPr>
        <p:txBody>
          <a:bodyPr/>
          <a:lstStyle/>
          <a:p>
            <a:r>
              <a:rPr lang="ca-ES" err="1"/>
              <a:t>Modifications</a:t>
            </a:r>
            <a:r>
              <a:rPr lang="ca-ES"/>
              <a:t> – </a:t>
            </a:r>
            <a:r>
              <a:rPr lang="ca-ES" err="1"/>
              <a:t>KMeans</a:t>
            </a:r>
            <a:r>
              <a:rPr lang="ca-ES"/>
              <a:t> I</a:t>
            </a:r>
          </a:p>
        </p:txBody>
      </p:sp>
      <p:pic>
        <p:nvPicPr>
          <p:cNvPr id="6" name="Contenidor de contingut 5" descr="Imatge que conté text, Font, captura de pantalla, blanc&#10;&#10;Pot ser que el contingut generat per IA no sigui correcte.">
            <a:extLst>
              <a:ext uri="{FF2B5EF4-FFF2-40B4-BE49-F238E27FC236}">
                <a16:creationId xmlns:a16="http://schemas.microsoft.com/office/drawing/2014/main" id="{5AC693C9-722C-BE47-047E-05339957F8A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63036" y="3149513"/>
            <a:ext cx="4230674" cy="2885996"/>
          </a:xfrm>
        </p:spPr>
      </p:pic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F8BF8F1A-DA47-7E2D-2F06-EBC8DF6973BF}"/>
              </a:ext>
            </a:extLst>
          </p:cNvPr>
          <p:cNvSpPr txBox="1">
            <a:spLocks/>
          </p:cNvSpPr>
          <p:nvPr/>
        </p:nvSpPr>
        <p:spPr>
          <a:xfrm>
            <a:off x="762844" y="2405597"/>
            <a:ext cx="3068531" cy="601810"/>
          </a:xfrm>
          <a:prstGeom prst="rect">
            <a:avLst/>
          </a:prstGeom>
        </p:spPr>
        <p:txBody>
          <a:bodyPr vert="horz" lIns="0" tIns="274320" rIns="91440" bIns="45720" rtlCol="0" anchor="t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err="1"/>
              <a:t>km_init</a:t>
            </a:r>
            <a:r>
              <a:rPr lang="ca-ES"/>
              <a:t> = "</a:t>
            </a:r>
            <a:r>
              <a:rPr lang="ca-ES" err="1"/>
              <a:t>random</a:t>
            </a:r>
            <a:r>
              <a:rPr lang="ca-ES"/>
              <a:t>"</a:t>
            </a:r>
          </a:p>
        </p:txBody>
      </p:sp>
      <p:pic>
        <p:nvPicPr>
          <p:cNvPr id="10" name="Imatge 9" descr="Imatge que conté text, Font, captura de pantalla, blanc&#10;&#10;Pot ser que el contingut generat per IA no sigui correcte.">
            <a:extLst>
              <a:ext uri="{FF2B5EF4-FFF2-40B4-BE49-F238E27FC236}">
                <a16:creationId xmlns:a16="http://schemas.microsoft.com/office/drawing/2014/main" id="{D721EE28-5CFE-DFD8-4074-7BB816C97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163" y="3009428"/>
            <a:ext cx="4419442" cy="3018086"/>
          </a:xfrm>
          <a:prstGeom prst="rect">
            <a:avLst/>
          </a:prstGeom>
        </p:spPr>
      </p:pic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C198FED8-7518-4055-525C-5C3F6A86F0D9}"/>
              </a:ext>
            </a:extLst>
          </p:cNvPr>
          <p:cNvSpPr txBox="1">
            <a:spLocks/>
          </p:cNvSpPr>
          <p:nvPr/>
        </p:nvSpPr>
        <p:spPr>
          <a:xfrm>
            <a:off x="5196298" y="2405596"/>
            <a:ext cx="3068531" cy="601810"/>
          </a:xfrm>
          <a:prstGeom prst="rect">
            <a:avLst/>
          </a:prstGeom>
        </p:spPr>
        <p:txBody>
          <a:bodyPr vert="horz" lIns="0" tIns="274320" rIns="91440" bIns="45720" rtlCol="0" anchor="t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err="1"/>
              <a:t>km_init</a:t>
            </a:r>
            <a:r>
              <a:rPr lang="ca-ES"/>
              <a:t> = "</a:t>
            </a:r>
            <a:r>
              <a:rPr lang="ca-ES" err="1"/>
              <a:t>first</a:t>
            </a:r>
            <a:r>
              <a:rPr lang="ca-ES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441875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4D3DA-FEBA-3E52-AB86-C6654E0AD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9FD2A810-B2ED-98FC-F743-D4710074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7001862" cy="1562020"/>
          </a:xfrm>
        </p:spPr>
        <p:txBody>
          <a:bodyPr/>
          <a:lstStyle/>
          <a:p>
            <a:r>
              <a:rPr lang="ca-ES" err="1"/>
              <a:t>Modifications</a:t>
            </a:r>
            <a:r>
              <a:rPr lang="ca-ES"/>
              <a:t> – </a:t>
            </a:r>
            <a:r>
              <a:rPr lang="ca-ES" err="1"/>
              <a:t>KMeans</a:t>
            </a:r>
            <a:r>
              <a:rPr lang="ca-ES"/>
              <a:t> I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8327B1EC-EED1-7F23-C3F5-0A5267CBC1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7235982" cy="4350864"/>
          </a:xfrm>
        </p:spPr>
        <p:txBody>
          <a:bodyPr vert="horz" lIns="0" tIns="228600" rIns="0" bIns="0" rtlCol="0" anchor="t">
            <a:normAutofit/>
          </a:bodyPr>
          <a:lstStyle/>
          <a:p>
            <a:pPr marL="283210" indent="-283210"/>
            <a:r>
              <a:rPr lang="ca-ES" sz="2200">
                <a:latin typeface="Franklin Gothic Book"/>
              </a:rPr>
              <a:t>Choosing right km_init has a notable impact on color classification accuracy</a:t>
            </a:r>
          </a:p>
          <a:p>
            <a:pPr marL="283210" indent="-283210"/>
            <a:r>
              <a:rPr lang="ca-ES" sz="2200">
                <a:latin typeface="Franklin Gothic Book"/>
              </a:rPr>
              <a:t>WCD </a:t>
            </a:r>
            <a:r>
              <a:rPr lang="ca-ES" sz="2200" err="1">
                <a:latin typeface="Franklin Gothic Book"/>
              </a:rPr>
              <a:t>and</a:t>
            </a:r>
            <a:r>
              <a:rPr lang="ca-ES" sz="2200">
                <a:latin typeface="Franklin Gothic Book"/>
              </a:rPr>
              <a:t> Fisher </a:t>
            </a:r>
            <a:r>
              <a:rPr lang="ca-ES" sz="2200" err="1">
                <a:latin typeface="Franklin Gothic Book"/>
              </a:rPr>
              <a:t>achieved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the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highest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accuracy</a:t>
            </a:r>
          </a:p>
          <a:p>
            <a:pPr marL="283210" indent="-283210"/>
            <a:r>
              <a:rPr lang="ca-ES" sz="2200" err="1">
                <a:latin typeface="Franklin Gothic Book"/>
              </a:rPr>
              <a:t>both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compactness</a:t>
            </a:r>
            <a:r>
              <a:rPr lang="ca-ES" sz="2200">
                <a:latin typeface="Franklin Gothic Book"/>
              </a:rPr>
              <a:t> (WCD) </a:t>
            </a:r>
            <a:r>
              <a:rPr lang="ca-ES" sz="2200" err="1">
                <a:latin typeface="Franklin Gothic Book"/>
              </a:rPr>
              <a:t>and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the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balance</a:t>
            </a:r>
            <a:r>
              <a:rPr lang="ca-ES" sz="2200">
                <a:latin typeface="Franklin Gothic Book"/>
              </a:rPr>
              <a:t> </a:t>
            </a:r>
            <a:r>
              <a:rPr lang="ca-ES" sz="2200" err="1">
                <a:latin typeface="Franklin Gothic Book"/>
              </a:rPr>
              <a:t>between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compactness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and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separation</a:t>
            </a:r>
            <a:r>
              <a:rPr lang="ca-ES" sz="2200">
                <a:latin typeface="Franklin Gothic Book"/>
              </a:rPr>
              <a:t> (Fisher) </a:t>
            </a:r>
            <a:r>
              <a:rPr lang="ca-ES" sz="2200" err="1">
                <a:latin typeface="Franklin Gothic Book"/>
              </a:rPr>
              <a:t>are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effective</a:t>
            </a:r>
            <a:r>
              <a:rPr lang="ca-ES" sz="2200">
                <a:latin typeface="Franklin Gothic Book"/>
              </a:rPr>
              <a:t> </a:t>
            </a:r>
            <a:r>
              <a:rPr lang="ca-ES" sz="2200" err="1">
                <a:latin typeface="Franklin Gothic Book"/>
              </a:rPr>
              <a:t>criteria</a:t>
            </a:r>
            <a:r>
              <a:rPr lang="ca-ES" sz="2200">
                <a:latin typeface="Franklin Gothic Book"/>
              </a:rPr>
              <a:t> for </a:t>
            </a:r>
            <a:r>
              <a:rPr lang="ca-ES" sz="2200" err="1">
                <a:latin typeface="Franklin Gothic Book"/>
              </a:rPr>
              <a:t>selecting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the</a:t>
            </a:r>
            <a:r>
              <a:rPr lang="ca-ES" sz="2200">
                <a:latin typeface="Franklin Gothic Book"/>
              </a:rPr>
              <a:t> </a:t>
            </a:r>
            <a:r>
              <a:rPr lang="ca-ES" sz="2200" err="1">
                <a:latin typeface="Franklin Gothic Book"/>
              </a:rPr>
              <a:t>number</a:t>
            </a:r>
            <a:r>
              <a:rPr lang="ca-ES" sz="2200">
                <a:latin typeface="Franklin Gothic Book"/>
              </a:rPr>
              <a:t> of </a:t>
            </a:r>
            <a:r>
              <a:rPr lang="ca-ES" sz="2200" err="1">
                <a:latin typeface="Franklin Gothic Book"/>
              </a:rPr>
              <a:t>clusters</a:t>
            </a:r>
            <a:r>
              <a:rPr lang="ca-ES" sz="2200">
                <a:latin typeface="Franklin Gothic Book"/>
              </a:rPr>
              <a:t> in </a:t>
            </a:r>
            <a:r>
              <a:rPr lang="ca-ES" sz="2200" err="1">
                <a:latin typeface="Franklin Gothic Book"/>
              </a:rPr>
              <a:t>this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setting</a:t>
            </a:r>
            <a:endParaRPr lang="ca-ES" sz="2200">
              <a:latin typeface="Franklin Gothic Book"/>
            </a:endParaRPr>
          </a:p>
          <a:p>
            <a:pPr marL="283210" indent="-283210"/>
            <a:r>
              <a:rPr lang="ca-ES" sz="2200">
                <a:latin typeface="Franklin Gothic Book"/>
              </a:rPr>
              <a:t>Inter-Class </a:t>
            </a:r>
            <a:r>
              <a:rPr lang="ca-ES" sz="2200" err="1">
                <a:latin typeface="Franklin Gothic Book"/>
              </a:rPr>
              <a:t>Distance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heuristic</a:t>
            </a:r>
            <a:r>
              <a:rPr lang="ca-ES" sz="2200">
                <a:latin typeface="Franklin Gothic Book"/>
              </a:rPr>
              <a:t> </a:t>
            </a:r>
            <a:r>
              <a:rPr lang="ca-ES" sz="2200" err="1">
                <a:latin typeface="Franklin Gothic Book"/>
              </a:rPr>
              <a:t>performed</a:t>
            </a:r>
            <a:r>
              <a:rPr lang="ca-ES" sz="2200">
                <a:latin typeface="Franklin Gothic Book"/>
              </a:rPr>
              <a:t> </a:t>
            </a:r>
            <a:r>
              <a:rPr lang="ca-ES" sz="2200" err="1">
                <a:latin typeface="Franklin Gothic Book"/>
              </a:rPr>
              <a:t>the</a:t>
            </a:r>
            <a:r>
              <a:rPr lang="ca-ES" sz="2200">
                <a:latin typeface="Franklin Gothic Book"/>
              </a:rPr>
              <a:t> </a:t>
            </a:r>
            <a:r>
              <a:rPr lang="ca-ES" sz="2200" err="1">
                <a:latin typeface="Franklin Gothic Book"/>
              </a:rPr>
              <a:t>worst</a:t>
            </a:r>
            <a:r>
              <a:rPr lang="ca-ES" sz="2200">
                <a:latin typeface="Franklin Gothic Book"/>
              </a:rPr>
              <a:t> </a:t>
            </a:r>
            <a:r>
              <a:rPr lang="ca-ES" sz="2200" err="1">
                <a:latin typeface="Franklin Gothic Book"/>
              </a:rPr>
              <a:t>across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both</a:t>
            </a:r>
            <a:r>
              <a:rPr lang="ca-ES" sz="2200">
                <a:latin typeface="Franklin Gothic Book"/>
              </a:rPr>
              <a:t> </a:t>
            </a:r>
            <a:r>
              <a:rPr lang="ca-ES" sz="2200" err="1">
                <a:latin typeface="Franklin Gothic Book"/>
              </a:rPr>
              <a:t>initializations</a:t>
            </a:r>
            <a:r>
              <a:rPr lang="ca-ES" sz="2200">
                <a:latin typeface="Franklin Gothic Book"/>
              </a:rPr>
              <a:t>, </a:t>
            </a:r>
            <a:r>
              <a:rPr lang="ca-ES" sz="2200" err="1">
                <a:latin typeface="Franklin Gothic Book"/>
              </a:rPr>
              <a:t>indicating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that</a:t>
            </a:r>
            <a:r>
              <a:rPr lang="ca-ES" sz="2200">
                <a:latin typeface="Franklin Gothic Book"/>
              </a:rPr>
              <a:t> </a:t>
            </a:r>
            <a:r>
              <a:rPr lang="ca-ES" sz="2200" err="1">
                <a:latin typeface="Franklin Gothic Book"/>
              </a:rPr>
              <a:t>maximizing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centroid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separation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alone</a:t>
            </a:r>
            <a:r>
              <a:rPr lang="ca-ES" sz="2200">
                <a:latin typeface="Franklin Gothic Book"/>
              </a:rPr>
              <a:t> is </a:t>
            </a:r>
            <a:r>
              <a:rPr lang="ca-ES" sz="2200" err="1">
                <a:latin typeface="Franklin Gothic Book"/>
              </a:rPr>
              <a:t>not</a:t>
            </a:r>
            <a:r>
              <a:rPr lang="ca-ES" sz="2200">
                <a:latin typeface="Franklin Gothic Book"/>
              </a:rPr>
              <a:t>  </a:t>
            </a:r>
            <a:r>
              <a:rPr lang="ca-ES" sz="2200" err="1">
                <a:latin typeface="Franklin Gothic Book"/>
              </a:rPr>
              <a:t>sufficient</a:t>
            </a:r>
            <a:r>
              <a:rPr lang="ca-ES" sz="2200">
                <a:latin typeface="Franklin Gothic Book"/>
              </a:rPr>
              <a:t> for  </a:t>
            </a:r>
            <a:r>
              <a:rPr lang="ca-ES" sz="2200" err="1">
                <a:latin typeface="Franklin Gothic Book"/>
              </a:rPr>
              <a:t>good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clustering</a:t>
            </a:r>
            <a:r>
              <a:rPr lang="ca-ES" sz="2200">
                <a:latin typeface="Franklin Gothic Book"/>
              </a:rPr>
              <a:t> performance in </a:t>
            </a:r>
            <a:r>
              <a:rPr lang="ca-ES" sz="2200" err="1">
                <a:latin typeface="Franklin Gothic Book"/>
              </a:rPr>
              <a:t>this</a:t>
            </a:r>
            <a:r>
              <a:rPr lang="ca-ES" sz="2200">
                <a:latin typeface="Franklin Gothic Book"/>
              </a:rPr>
              <a:t> </a:t>
            </a:r>
            <a:r>
              <a:rPr lang="ca-ES" sz="2200" err="1">
                <a:latin typeface="Franklin Gothic Book"/>
              </a:rPr>
              <a:t>task</a:t>
            </a:r>
            <a:endParaRPr lang="ca-ES" sz="2200">
              <a:latin typeface="Franklin Gothic Book"/>
            </a:endParaRPr>
          </a:p>
          <a:p>
            <a:pPr marL="283210" indent="-283210"/>
            <a:endParaRPr lang="ca-ES" sz="220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20555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B8E8-A9C4-ECDF-801A-4C7CFEED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A1B87046-A47C-AD9A-A306-FC69542C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7001862" cy="1562020"/>
          </a:xfrm>
        </p:spPr>
        <p:txBody>
          <a:bodyPr/>
          <a:lstStyle/>
          <a:p>
            <a:r>
              <a:rPr lang="ca-ES" err="1"/>
              <a:t>Modifications</a:t>
            </a:r>
            <a:r>
              <a:rPr lang="ca-ES"/>
              <a:t> – </a:t>
            </a:r>
            <a:r>
              <a:rPr lang="ca-ES" err="1"/>
              <a:t>KMeans</a:t>
            </a:r>
            <a:r>
              <a:rPr lang="ca-ES"/>
              <a:t> II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21F28D2A-20ED-7FDA-2D52-8474636DE4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6787747" cy="4350864"/>
          </a:xfrm>
        </p:spPr>
        <p:txBody>
          <a:bodyPr vert="horz" lIns="0" tIns="228600" rIns="0" bIns="0" rtlCol="0" anchor="t">
            <a:normAutofit/>
          </a:bodyPr>
          <a:lstStyle/>
          <a:p>
            <a:pPr marL="283210" indent="-283210"/>
            <a:r>
              <a:rPr lang="ca-ES" err="1">
                <a:latin typeface="Franklin Gothic Book"/>
              </a:rPr>
              <a:t>Refining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the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selection</a:t>
            </a:r>
            <a:r>
              <a:rPr lang="ca-ES">
                <a:latin typeface="Franklin Gothic Book"/>
              </a:rPr>
              <a:t> of </a:t>
            </a:r>
            <a:r>
              <a:rPr lang="ca-ES" err="1">
                <a:latin typeface="Franklin Gothic Book"/>
              </a:rPr>
              <a:t>the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optimal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number</a:t>
            </a:r>
            <a:r>
              <a:rPr lang="ca-ES">
                <a:latin typeface="Franklin Gothic Book"/>
              </a:rPr>
              <a:t> of clusters K</a:t>
            </a:r>
          </a:p>
          <a:p>
            <a:pPr marL="283210" indent="-283210"/>
            <a:r>
              <a:rPr lang="ca-ES">
                <a:latin typeface="Franklin Gothic Book"/>
              </a:rPr>
              <a:t>In Part 1 of </a:t>
            </a:r>
            <a:r>
              <a:rPr lang="ca-ES" err="1">
                <a:latin typeface="Franklin Gothic Book"/>
              </a:rPr>
              <a:t>the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project</a:t>
            </a:r>
            <a:r>
              <a:rPr lang="ca-ES">
                <a:latin typeface="Franklin Gothic Book"/>
              </a:rPr>
              <a:t>, </a:t>
            </a:r>
            <a:r>
              <a:rPr lang="ca-ES" err="1">
                <a:latin typeface="Franklin Gothic Book"/>
              </a:rPr>
              <a:t>we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used</a:t>
            </a:r>
            <a:r>
              <a:rPr lang="ca-ES">
                <a:latin typeface="Franklin Gothic Book"/>
              </a:rPr>
              <a:t> a </a:t>
            </a:r>
            <a:r>
              <a:rPr lang="ca-ES" err="1">
                <a:latin typeface="Franklin Gothic Book"/>
              </a:rPr>
              <a:t>fixed</a:t>
            </a:r>
            <a:r>
              <a:rPr lang="ca-ES">
                <a:latin typeface="Franklin Gothic Book"/>
              </a:rPr>
              <a:t> </a:t>
            </a:r>
            <a:r>
              <a:rPr lang="ca-ES" err="1">
                <a:latin typeface="Franklin Gothic Book"/>
              </a:rPr>
              <a:t>threshold</a:t>
            </a:r>
            <a:r>
              <a:rPr lang="ca-ES">
                <a:latin typeface="Franklin Gothic Book"/>
              </a:rPr>
              <a:t> of 20% </a:t>
            </a:r>
            <a:r>
              <a:rPr lang="ca-ES" err="1">
                <a:latin typeface="Franklin Gothic Book"/>
              </a:rPr>
              <a:t>improvement</a:t>
            </a:r>
            <a:r>
              <a:rPr lang="ca-ES">
                <a:latin typeface="Franklin Gothic Book"/>
              </a:rPr>
              <a:t> in </a:t>
            </a:r>
            <a:r>
              <a:rPr lang="ca-ES" err="1">
                <a:latin typeface="Franklin Gothic Book"/>
              </a:rPr>
              <a:t>within-class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distance</a:t>
            </a:r>
            <a:r>
              <a:rPr lang="ca-ES">
                <a:latin typeface="Franklin Gothic Book"/>
              </a:rPr>
              <a:t> (WCD) to </a:t>
            </a:r>
            <a:r>
              <a:rPr lang="ca-ES" err="1">
                <a:latin typeface="Franklin Gothic Book"/>
              </a:rPr>
              <a:t>decide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when</a:t>
            </a:r>
            <a:r>
              <a:rPr lang="ca-ES">
                <a:latin typeface="Franklin Gothic Book"/>
              </a:rPr>
              <a:t> to stop </a:t>
            </a:r>
            <a:r>
              <a:rPr lang="ca-ES" err="1">
                <a:latin typeface="Franklin Gothic Book"/>
              </a:rPr>
              <a:t>increasing</a:t>
            </a:r>
            <a:r>
              <a:rPr lang="ca-ES">
                <a:latin typeface="Franklin Gothic Book"/>
              </a:rPr>
              <a:t> K</a:t>
            </a:r>
          </a:p>
          <a:p>
            <a:pPr marL="283210" indent="-283210"/>
            <a:r>
              <a:rPr lang="ca-ES">
                <a:latin typeface="Franklin Gothic Book"/>
              </a:rPr>
              <a:t>In </a:t>
            </a:r>
            <a:r>
              <a:rPr lang="ca-ES" err="1">
                <a:latin typeface="Franklin Gothic Book"/>
              </a:rPr>
              <a:t>this</a:t>
            </a:r>
            <a:r>
              <a:rPr lang="ca-ES">
                <a:latin typeface="Franklin Gothic Book"/>
              </a:rPr>
              <a:t> part, </a:t>
            </a:r>
            <a:r>
              <a:rPr lang="ca-ES" err="1">
                <a:latin typeface="Franklin Gothic Book"/>
              </a:rPr>
              <a:t>we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investigated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whether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varying</a:t>
            </a:r>
            <a:r>
              <a:rPr lang="ca-ES">
                <a:latin typeface="Franklin Gothic Book"/>
              </a:rPr>
              <a:t>  </a:t>
            </a:r>
            <a:r>
              <a:rPr lang="ca-ES" err="1">
                <a:latin typeface="Franklin Gothic Book"/>
              </a:rPr>
              <a:t>this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threshold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could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lead</a:t>
            </a:r>
            <a:r>
              <a:rPr lang="ca-ES">
                <a:latin typeface="Franklin Gothic Book"/>
              </a:rPr>
              <a:t> to </a:t>
            </a:r>
            <a:r>
              <a:rPr lang="ca-ES" err="1">
                <a:latin typeface="Franklin Gothic Book"/>
              </a:rPr>
              <a:t>better</a:t>
            </a:r>
            <a:r>
              <a:rPr lang="ca-ES">
                <a:latin typeface="Franklin Gothic Book"/>
              </a:rPr>
              <a:t> </a:t>
            </a:r>
            <a:r>
              <a:rPr lang="ca-ES" err="1">
                <a:latin typeface="Franklin Gothic Book"/>
              </a:rPr>
              <a:t>results</a:t>
            </a:r>
          </a:p>
          <a:p>
            <a:pPr marL="283210" indent="-283210"/>
            <a:endParaRPr lang="ca-ES" sz="220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595709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A249C-71C0-091D-BCC4-2F87E6B0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1AC30A6F-65D6-C6E9-F75A-8DADC9AD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7001862" cy="1562020"/>
          </a:xfrm>
        </p:spPr>
        <p:txBody>
          <a:bodyPr/>
          <a:lstStyle/>
          <a:p>
            <a:r>
              <a:rPr lang="ca-ES" err="1"/>
              <a:t>Modifications</a:t>
            </a:r>
            <a:r>
              <a:rPr lang="ca-ES"/>
              <a:t> – </a:t>
            </a:r>
            <a:r>
              <a:rPr lang="ca-ES" err="1"/>
              <a:t>KMeans</a:t>
            </a:r>
            <a:r>
              <a:rPr lang="ca-ES"/>
              <a:t> II</a:t>
            </a:r>
          </a:p>
        </p:txBody>
      </p:sp>
      <p:graphicFrame>
        <p:nvGraphicFramePr>
          <p:cNvPr id="7" name="Taula 6">
            <a:extLst>
              <a:ext uri="{FF2B5EF4-FFF2-40B4-BE49-F238E27FC236}">
                <a16:creationId xmlns:a16="http://schemas.microsoft.com/office/drawing/2014/main" id="{88D687A4-0B9C-EB7F-09A1-C41FF4B16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527546"/>
              </p:ext>
            </p:extLst>
          </p:nvPr>
        </p:nvGraphicFramePr>
        <p:xfrm>
          <a:off x="598714" y="3428999"/>
          <a:ext cx="11198808" cy="2499360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933234">
                  <a:extLst>
                    <a:ext uri="{9D8B030D-6E8A-4147-A177-3AD203B41FA5}">
                      <a16:colId xmlns:a16="http://schemas.microsoft.com/office/drawing/2014/main" val="498895554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66230550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2656116810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1902397875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1661197895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2204673004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3442344154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2385806403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3581584245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1580534487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835144012"/>
                    </a:ext>
                  </a:extLst>
                </a:gridCol>
                <a:gridCol w="933234">
                  <a:extLst>
                    <a:ext uri="{9D8B030D-6E8A-4147-A177-3AD203B41FA5}">
                      <a16:colId xmlns:a16="http://schemas.microsoft.com/office/drawing/2014/main" val="3510092770"/>
                    </a:ext>
                  </a:extLst>
                </a:gridCol>
              </a:tblGrid>
              <a:tr h="300386">
                <a:tc>
                  <a:txBody>
                    <a:bodyPr/>
                    <a:lstStyle/>
                    <a:p>
                      <a:pPr rtl="0" fontAlgn="b"/>
                      <a:endParaRPr lang="ca-ES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thr=5%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thr=10%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thr=15%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thr=20%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thr=25%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thr=30%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thr=35%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thr=40%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thr=45%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thr=50%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133957"/>
                  </a:ext>
                </a:extLst>
              </a:tr>
              <a:tr h="300386"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K=2: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40.8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41.1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40.8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37.0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36.0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36.3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119964"/>
                  </a:ext>
                </a:extLst>
              </a:tr>
              <a:tr h="300386"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K=3: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30.0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32.6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37.9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37.2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36.8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36.1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34.4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31.9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30.6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30.5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30.6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437474"/>
                  </a:ext>
                </a:extLst>
              </a:tr>
              <a:tr h="300386"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K=4: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29.5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34.8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35.7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34.9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33.5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31.2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30.5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30.3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30.3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282717"/>
                  </a:ext>
                </a:extLst>
              </a:tr>
              <a:tr h="300386"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K=5: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28.4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41.3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36.2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33.9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33.9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32.9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33.0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33.0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33.0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552790"/>
                  </a:ext>
                </a:extLst>
              </a:tr>
              <a:tr h="300386"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K=6: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28.6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43.9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48.4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43.6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40.8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659773"/>
                  </a:ext>
                </a:extLst>
              </a:tr>
              <a:tr h="300386"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K=7: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27.4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43.2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44.2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41.6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38.3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829093"/>
                  </a:ext>
                </a:extLst>
              </a:tr>
              <a:tr h="300386"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K=8: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27.9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45.0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43.9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41.5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40.6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40.0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40.0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ca-ES">
                          <a:effectLst/>
                        </a:rPr>
                        <a:t>39.7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317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403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7540-3DAD-97F9-9312-4C09C0DB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8B6C37E-0018-3524-D0C1-5B1B93E9A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err="1"/>
              <a:t>Shape</a:t>
            </a:r>
            <a:r>
              <a:rPr lang="es-ES"/>
              <a:t> </a:t>
            </a:r>
            <a:r>
              <a:rPr lang="es-ES" err="1"/>
              <a:t>accuracy</a:t>
            </a:r>
            <a:endParaRPr lang="ca-ES" err="1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C31285-9348-02D5-17F2-4B90BC22683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3068531" cy="601810"/>
          </a:xfrm>
        </p:spPr>
        <p:txBody>
          <a:bodyPr vert="horz" lIns="0" tIns="2743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graphicFrame>
        <p:nvGraphicFramePr>
          <p:cNvPr id="3" name="Taula 2">
            <a:extLst>
              <a:ext uri="{FF2B5EF4-FFF2-40B4-BE49-F238E27FC236}">
                <a16:creationId xmlns:a16="http://schemas.microsoft.com/office/drawing/2014/main" id="{4D37D7CB-1494-A049-6172-BEA084D363C4}"/>
              </a:ext>
            </a:extLst>
          </p:cNvPr>
          <p:cNvGraphicFramePr>
            <a:graphicFrameLocks noGrp="1"/>
          </p:cNvGraphicFramePr>
          <p:nvPr/>
        </p:nvGraphicFramePr>
        <p:xfrm>
          <a:off x="7059083" y="994833"/>
          <a:ext cx="4540112" cy="2852240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1135028">
                  <a:extLst>
                    <a:ext uri="{9D8B030D-6E8A-4147-A177-3AD203B41FA5}">
                      <a16:colId xmlns:a16="http://schemas.microsoft.com/office/drawing/2014/main" val="2513841424"/>
                    </a:ext>
                  </a:extLst>
                </a:gridCol>
                <a:gridCol w="1135028">
                  <a:extLst>
                    <a:ext uri="{9D8B030D-6E8A-4147-A177-3AD203B41FA5}">
                      <a16:colId xmlns:a16="http://schemas.microsoft.com/office/drawing/2014/main" val="3366730383"/>
                    </a:ext>
                  </a:extLst>
                </a:gridCol>
                <a:gridCol w="1135028">
                  <a:extLst>
                    <a:ext uri="{9D8B030D-6E8A-4147-A177-3AD203B41FA5}">
                      <a16:colId xmlns:a16="http://schemas.microsoft.com/office/drawing/2014/main" val="2671314713"/>
                    </a:ext>
                  </a:extLst>
                </a:gridCol>
                <a:gridCol w="1135028">
                  <a:extLst>
                    <a:ext uri="{9D8B030D-6E8A-4147-A177-3AD203B41FA5}">
                      <a16:colId xmlns:a16="http://schemas.microsoft.com/office/drawing/2014/main" val="2992751155"/>
                    </a:ext>
                  </a:extLst>
                </a:gridCol>
              </a:tblGrid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endParaRPr lang="en-US" sz="1400" b="0" i="0">
                        <a:effectLst/>
                        <a:latin typeface="Aptos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Precision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Recall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F1-score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07111"/>
                  </a:ext>
                </a:extLst>
              </a:tr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Dresses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90.7%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94.6%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92.6%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135808"/>
                  </a:ext>
                </a:extLst>
              </a:tr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Flip Flops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75.7%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89.7%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82.1%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14024"/>
                  </a:ext>
                </a:extLst>
              </a:tr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Handbags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97.8%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96.8%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97.3%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097985"/>
                  </a:ext>
                </a:extLst>
              </a:tr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Heels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95.3%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82.8%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88.6%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891010"/>
                  </a:ext>
                </a:extLst>
              </a:tr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Jeans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92.8%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96.8%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94.7%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795299"/>
                  </a:ext>
                </a:extLst>
              </a:tr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Sandals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87.8%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84.0%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85.9%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866308"/>
                  </a:ext>
                </a:extLst>
              </a:tr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Shirts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97.9%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96.9%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97.4%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357399"/>
                  </a:ext>
                </a:extLst>
              </a:tr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Shorts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91.0%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90.0%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90.5%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726581"/>
                  </a:ext>
                </a:extLst>
              </a:tr>
              <a:tr h="28522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Socks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98.9%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92.6%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Arial"/>
                        </a:rPr>
                        <a:t>95.6%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624118"/>
                  </a:ext>
                </a:extLst>
              </a:tr>
            </a:tbl>
          </a:graphicData>
        </a:graphic>
      </p:graphicFrame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88B20F40-B854-6187-C6ED-19F0370978D8}"/>
              </a:ext>
            </a:extLst>
          </p:cNvPr>
          <p:cNvSpPr txBox="1">
            <a:spLocks/>
          </p:cNvSpPr>
          <p:nvPr/>
        </p:nvSpPr>
        <p:spPr>
          <a:xfrm>
            <a:off x="7063951" y="291905"/>
            <a:ext cx="3068531" cy="601810"/>
          </a:xfrm>
          <a:prstGeom prst="rect">
            <a:avLst/>
          </a:prstGeom>
        </p:spPr>
        <p:txBody>
          <a:bodyPr vert="horz" lIns="0" tIns="274320" rIns="91440" bIns="45720" rtlCol="0" anchor="t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err="1"/>
              <a:t>Knn</a:t>
            </a:r>
            <a:r>
              <a:rPr lang="ca-ES"/>
              <a:t>(K=3)</a:t>
            </a:r>
          </a:p>
        </p:txBody>
      </p:sp>
      <p:sp>
        <p:nvSpPr>
          <p:cNvPr id="14" name="Marcador de contenido 3">
            <a:extLst>
              <a:ext uri="{FF2B5EF4-FFF2-40B4-BE49-F238E27FC236}">
                <a16:creationId xmlns:a16="http://schemas.microsoft.com/office/drawing/2014/main" id="{FE5B6E05-240E-6C47-04E3-809DB5858607}"/>
              </a:ext>
            </a:extLst>
          </p:cNvPr>
          <p:cNvSpPr txBox="1">
            <a:spLocks/>
          </p:cNvSpPr>
          <p:nvPr/>
        </p:nvSpPr>
        <p:spPr>
          <a:xfrm>
            <a:off x="7063951" y="4070154"/>
            <a:ext cx="3068531" cy="601810"/>
          </a:xfrm>
          <a:prstGeom prst="rect">
            <a:avLst/>
          </a:prstGeom>
        </p:spPr>
        <p:txBody>
          <a:bodyPr vert="horz" lIns="0" tIns="274320" rIns="91440" bIns="45720" rtlCol="0" anchor="t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err="1">
                <a:ea typeface="+mn-lt"/>
                <a:cs typeface="+mn-lt"/>
              </a:rPr>
              <a:t>accuracy</a:t>
            </a:r>
            <a:r>
              <a:rPr lang="ca-ES">
                <a:ea typeface="+mn-lt"/>
                <a:cs typeface="+mn-lt"/>
              </a:rPr>
              <a:t>: 91.5%</a:t>
            </a:r>
            <a:endParaRPr lang="ca-ES"/>
          </a:p>
        </p:txBody>
      </p:sp>
      <p:sp>
        <p:nvSpPr>
          <p:cNvPr id="16" name="Marcador de contenido 3">
            <a:extLst>
              <a:ext uri="{FF2B5EF4-FFF2-40B4-BE49-F238E27FC236}">
                <a16:creationId xmlns:a16="http://schemas.microsoft.com/office/drawing/2014/main" id="{3E9E3111-9CF4-3558-25F9-28D8A62E45E5}"/>
              </a:ext>
            </a:extLst>
          </p:cNvPr>
          <p:cNvSpPr txBox="1">
            <a:spLocks/>
          </p:cNvSpPr>
          <p:nvPr/>
        </p:nvSpPr>
        <p:spPr>
          <a:xfrm>
            <a:off x="1550034" y="302488"/>
            <a:ext cx="3068531" cy="601810"/>
          </a:xfrm>
          <a:prstGeom prst="rect">
            <a:avLst/>
          </a:prstGeom>
        </p:spPr>
        <p:txBody>
          <a:bodyPr vert="horz" lIns="0" tIns="274320" rIns="91440" bIns="45720" rtlCol="0" anchor="t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err="1"/>
              <a:t>Knn</a:t>
            </a:r>
            <a:r>
              <a:rPr lang="ca-ES"/>
              <a:t>(K=6)</a:t>
            </a:r>
          </a:p>
        </p:txBody>
      </p:sp>
      <p:sp>
        <p:nvSpPr>
          <p:cNvPr id="17" name="Marcador de contenido 3">
            <a:extLst>
              <a:ext uri="{FF2B5EF4-FFF2-40B4-BE49-F238E27FC236}">
                <a16:creationId xmlns:a16="http://schemas.microsoft.com/office/drawing/2014/main" id="{28A7D1EB-B46D-CF39-E210-5C6BC34D1A9A}"/>
              </a:ext>
            </a:extLst>
          </p:cNvPr>
          <p:cNvSpPr txBox="1">
            <a:spLocks/>
          </p:cNvSpPr>
          <p:nvPr/>
        </p:nvSpPr>
        <p:spPr>
          <a:xfrm>
            <a:off x="1550034" y="4080737"/>
            <a:ext cx="3068531" cy="601810"/>
          </a:xfrm>
          <a:prstGeom prst="rect">
            <a:avLst/>
          </a:prstGeom>
        </p:spPr>
        <p:txBody>
          <a:bodyPr vert="horz" lIns="0" tIns="274320" rIns="91440" bIns="45720" rtlCol="0" anchor="t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err="1">
                <a:ea typeface="+mn-lt"/>
                <a:cs typeface="+mn-lt"/>
              </a:rPr>
              <a:t>accuracy</a:t>
            </a:r>
            <a:r>
              <a:rPr lang="ca-ES">
                <a:ea typeface="+mn-lt"/>
                <a:cs typeface="+mn-lt"/>
              </a:rPr>
              <a:t>: 89.8%</a:t>
            </a:r>
            <a:endParaRPr lang="ca-ES"/>
          </a:p>
        </p:txBody>
      </p:sp>
      <p:graphicFrame>
        <p:nvGraphicFramePr>
          <p:cNvPr id="21" name="Taula 20">
            <a:extLst>
              <a:ext uri="{FF2B5EF4-FFF2-40B4-BE49-F238E27FC236}">
                <a16:creationId xmlns:a16="http://schemas.microsoft.com/office/drawing/2014/main" id="{88CFEE38-EDD1-7E3E-888C-F89B545EF606}"/>
              </a:ext>
            </a:extLst>
          </p:cNvPr>
          <p:cNvGraphicFramePr>
            <a:graphicFrameLocks noGrp="1"/>
          </p:cNvGraphicFramePr>
          <p:nvPr/>
        </p:nvGraphicFramePr>
        <p:xfrm>
          <a:off x="1551517" y="992187"/>
          <a:ext cx="4581076" cy="2966730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1145269">
                  <a:extLst>
                    <a:ext uri="{9D8B030D-6E8A-4147-A177-3AD203B41FA5}">
                      <a16:colId xmlns:a16="http://schemas.microsoft.com/office/drawing/2014/main" val="3198375215"/>
                    </a:ext>
                  </a:extLst>
                </a:gridCol>
                <a:gridCol w="1145269">
                  <a:extLst>
                    <a:ext uri="{9D8B030D-6E8A-4147-A177-3AD203B41FA5}">
                      <a16:colId xmlns:a16="http://schemas.microsoft.com/office/drawing/2014/main" val="2325166037"/>
                    </a:ext>
                  </a:extLst>
                </a:gridCol>
                <a:gridCol w="1145269">
                  <a:extLst>
                    <a:ext uri="{9D8B030D-6E8A-4147-A177-3AD203B41FA5}">
                      <a16:colId xmlns:a16="http://schemas.microsoft.com/office/drawing/2014/main" val="2431455203"/>
                    </a:ext>
                  </a:extLst>
                </a:gridCol>
                <a:gridCol w="1145269">
                  <a:extLst>
                    <a:ext uri="{9D8B030D-6E8A-4147-A177-3AD203B41FA5}">
                      <a16:colId xmlns:a16="http://schemas.microsoft.com/office/drawing/2014/main" val="1661246503"/>
                    </a:ext>
                  </a:extLst>
                </a:gridCol>
              </a:tblGrid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Precision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Recall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F1-score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416387"/>
                  </a:ext>
                </a:extLst>
              </a:tr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Dresses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90.8%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95.7%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93.2%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299049"/>
                  </a:ext>
                </a:extLst>
              </a:tr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Flip Flops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73.2%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84.5%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78.5%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157055"/>
                  </a:ext>
                </a:extLst>
              </a:tr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Handbags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94.7%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95.7%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95.2%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731446"/>
                  </a:ext>
                </a:extLst>
              </a:tr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Heels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84.6%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77.8%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81.1%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35401"/>
                  </a:ext>
                </a:extLst>
              </a:tr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Jeans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95.7%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94.6%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95.1%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631119"/>
                  </a:ext>
                </a:extLst>
              </a:tr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Sandals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89.5%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81.9%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85.6%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541896"/>
                  </a:ext>
                </a:extLst>
              </a:tr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Shirts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98.9%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95.9%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97.4%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474053"/>
                  </a:ext>
                </a:extLst>
              </a:tr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Shorts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90.0%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90.0%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90.0%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251312"/>
                  </a:ext>
                </a:extLst>
              </a:tr>
              <a:tr h="296673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Socks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93.5%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92.6%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93.0% 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044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23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520690" cy="2354026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spc="60"/>
              <a:t>Color accuracy</a:t>
            </a:r>
            <a:br>
              <a:rPr lang="es-ES" spc="60"/>
            </a:br>
            <a:br>
              <a:rPr lang="es-ES" spc="60"/>
            </a:br>
            <a:r>
              <a:rPr lang="es-ES" sz="1800" b="0" spc="60"/>
              <a:t>Kmeans(K=6,threshold=0.1,km_init="first")</a:t>
            </a:r>
            <a:br>
              <a:rPr lang="es-ES" sz="2800" b="0" spc="60"/>
            </a:br>
            <a:r>
              <a:rPr lang="es-ES" sz="1600" b="0" spc="60">
                <a:ea typeface="+mj-lt"/>
                <a:cs typeface="+mj-lt"/>
              </a:rPr>
              <a:t>Overall </a:t>
            </a:r>
            <a:r>
              <a:rPr lang="es-ES" sz="1600" b="0" spc="60" err="1">
                <a:ea typeface="+mj-lt"/>
                <a:cs typeface="+mj-lt"/>
              </a:rPr>
              <a:t>accuracy</a:t>
            </a:r>
            <a:r>
              <a:rPr lang="es-ES" sz="1600" b="0" spc="60">
                <a:ea typeface="+mj-lt"/>
                <a:cs typeface="+mj-lt"/>
              </a:rPr>
              <a:t>: 48.4% </a:t>
            </a:r>
            <a:endParaRPr lang="es-ES" sz="1600" spc="60">
              <a:latin typeface="Franklin Gothic Demi"/>
            </a:endParaRPr>
          </a:p>
        </p:txBody>
      </p:sp>
      <p:pic>
        <p:nvPicPr>
          <p:cNvPr id="7" name="Imatge 6" descr="Imatge que conté text, captura de pantalla, diagrama, Rectangle&#10;&#10;Pot ser que el contingut generat per IA no sigui correcte.">
            <a:extLst>
              <a:ext uri="{FF2B5EF4-FFF2-40B4-BE49-F238E27FC236}">
                <a16:creationId xmlns:a16="http://schemas.microsoft.com/office/drawing/2014/main" id="{CF526357-0DB5-8CB4-EBF9-09A05525D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743" y="306915"/>
            <a:ext cx="6500346" cy="6244167"/>
          </a:xfrm>
          <a:prstGeom prst="rect">
            <a:avLst/>
          </a:prstGeom>
        </p:spPr>
      </p:pic>
      <p:sp>
        <p:nvSpPr>
          <p:cNvPr id="12" name="QuadreDeText 11">
            <a:extLst>
              <a:ext uri="{FF2B5EF4-FFF2-40B4-BE49-F238E27FC236}">
                <a16:creationId xmlns:a16="http://schemas.microsoft.com/office/drawing/2014/main" id="{C24DF22D-8ADB-1367-9E69-29EFEA290BF7}"/>
              </a:ext>
            </a:extLst>
          </p:cNvPr>
          <p:cNvSpPr txBox="1"/>
          <p:nvPr/>
        </p:nvSpPr>
        <p:spPr>
          <a:xfrm>
            <a:off x="4724400" y="3200400"/>
            <a:ext cx="2743200" cy="5745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569"/>
              </a:lnSpc>
            </a:pPr>
            <a:r>
              <a:rPr lang="en-US" sz="1200">
                <a:latin typeface="Aptos"/>
                <a:cs typeface="Segoe UI"/>
              </a:rPr>
              <a:t>Overall accuracy: 37.8%</a:t>
            </a:r>
            <a:r>
              <a:rPr lang="ca-ES" sz="1200">
                <a:latin typeface="Aptos"/>
                <a:cs typeface="Segoe UI"/>
              </a:rPr>
              <a:t> </a:t>
            </a:r>
          </a:p>
          <a:p>
            <a:endParaRPr lang="ca-ES">
              <a:latin typeface="Segoe UI"/>
              <a:cs typeface="Segoe UI"/>
            </a:endParaRPr>
          </a:p>
        </p:txBody>
      </p:sp>
      <p:graphicFrame>
        <p:nvGraphicFramePr>
          <p:cNvPr id="4" name="Taula 3">
            <a:extLst>
              <a:ext uri="{FF2B5EF4-FFF2-40B4-BE49-F238E27FC236}">
                <a16:creationId xmlns:a16="http://schemas.microsoft.com/office/drawing/2014/main" id="{EEACB950-B4D5-FDE8-D0C1-5AF701C31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023057"/>
              </p:ext>
            </p:extLst>
          </p:nvPr>
        </p:nvGraphicFramePr>
        <p:xfrm>
          <a:off x="381000" y="3418416"/>
          <a:ext cx="5118100" cy="2811780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1279525">
                  <a:extLst>
                    <a:ext uri="{9D8B030D-6E8A-4147-A177-3AD203B41FA5}">
                      <a16:colId xmlns:a16="http://schemas.microsoft.com/office/drawing/2014/main" val="3664840578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1860886884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1840603722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3627347063"/>
                    </a:ext>
                  </a:extLst>
                </a:gridCol>
              </a:tblGrid>
              <a:tr h="269086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Precision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Recall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F1-score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922229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Black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0.81 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0.64 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0.71 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498964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Blue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0.88 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0.55 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0.67 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074434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Brown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0.56 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0.31 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0.40 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42194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Green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0.80 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0.31 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0.44 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686955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Grey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0.58 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0.52 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0.55 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071259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Orange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0.08 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0.12 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0.10 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461477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Pink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0.83 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0.38 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0.53 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935833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Purple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0.40 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0.25 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0.31 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075507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Red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0.40 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0.40 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0.40 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679423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White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0.24 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0.74 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0.37 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03316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Yellow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0.50 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0.20 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0.29 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202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/>
              <a:t>Color and </a:t>
            </a:r>
            <a:r>
              <a:rPr lang="es-ES" err="1"/>
              <a:t>shape</a:t>
            </a:r>
            <a:r>
              <a:rPr lang="es-ES"/>
              <a:t> </a:t>
            </a:r>
            <a:r>
              <a:rPr lang="es-ES" err="1"/>
              <a:t>retrieval</a:t>
            </a:r>
            <a:br>
              <a:rPr lang="es-ES"/>
            </a:br>
            <a:r>
              <a:rPr lang="es-ES" sz="2400" err="1"/>
              <a:t>Using</a:t>
            </a:r>
            <a:r>
              <a:rPr lang="es-ES" sz="2400"/>
              <a:t>: </a:t>
            </a:r>
            <a:r>
              <a:rPr lang="es-ES" sz="2400" err="1"/>
              <a:t>Knn</a:t>
            </a:r>
            <a:r>
              <a:rPr lang="es-ES" sz="2400"/>
              <a:t>(K=3), Kmeans(K=6,threshold=0.1,km_init="first</a:t>
            </a:r>
            <a:r>
              <a:rPr lang="es-ES" sz="2400" u="sng"/>
              <a:t>")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943" y="5904442"/>
            <a:ext cx="4062884" cy="369554"/>
          </a:xfrm>
        </p:spPr>
        <p:txBody>
          <a:bodyPr vert="horz" lIns="0" tIns="45720" rIns="0" bIns="0" rtlCol="0" anchor="t">
            <a:normAutofit/>
          </a:bodyPr>
          <a:lstStyle>
            <a:defPPr>
              <a:defRPr lang="es-ES"/>
            </a:defPPr>
          </a:lstStyle>
          <a:p>
            <a:r>
              <a:rPr lang="es-ES" err="1"/>
              <a:t>Looking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Black </a:t>
            </a:r>
            <a:r>
              <a:rPr lang="es-ES" err="1"/>
              <a:t>Sandals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5231" y="5851525"/>
            <a:ext cx="4257994" cy="422470"/>
          </a:xfrm>
        </p:spPr>
        <p:txBody>
          <a:bodyPr vert="horz" lIns="0" tIns="45720" rIns="0" bIns="0" rtlCol="0" anchor="t">
            <a:normAutofit/>
          </a:bodyPr>
          <a:lstStyle>
            <a:defPPr>
              <a:defRPr lang="es-ES"/>
            </a:defPPr>
          </a:lstStyle>
          <a:p>
            <a:r>
              <a:rPr lang="es-ES" err="1"/>
              <a:t>Looking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: Blue Jeans</a:t>
            </a:r>
          </a:p>
        </p:txBody>
      </p:sp>
      <p:pic>
        <p:nvPicPr>
          <p:cNvPr id="5" name="Imatge 4" descr="Imatge que conté roba, Pantalons, calçat, moda&#10;&#10;Pot ser que el contingut generat per IA no sigui correcte.">
            <a:extLst>
              <a:ext uri="{FF2B5EF4-FFF2-40B4-BE49-F238E27FC236}">
                <a16:creationId xmlns:a16="http://schemas.microsoft.com/office/drawing/2014/main" id="{CA96DE27-6F64-EC42-C23C-F2C9709C2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360" y="2444750"/>
            <a:ext cx="5141112" cy="2889250"/>
          </a:xfrm>
          <a:prstGeom prst="rect">
            <a:avLst/>
          </a:prstGeom>
        </p:spPr>
      </p:pic>
      <p:pic>
        <p:nvPicPr>
          <p:cNvPr id="6" name="Imatge 5" descr="Imatge que conté calçat, roba, sabata, sabates&#10;&#10;Pot ser que el contingut generat per IA no sigui correcte.">
            <a:extLst>
              <a:ext uri="{FF2B5EF4-FFF2-40B4-BE49-F238E27FC236}">
                <a16:creationId xmlns:a16="http://schemas.microsoft.com/office/drawing/2014/main" id="{FB922D6F-F9C4-4274-0217-A99A6B4BB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84" y="3097618"/>
            <a:ext cx="4614333" cy="213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2D08-427D-C12B-CFA7-5953A94F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DBBBEA76-4A42-B0BB-084C-C81843A87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err="1"/>
              <a:t>Thank</a:t>
            </a:r>
            <a:r>
              <a:rPr lang="es-ES"/>
              <a:t> </a:t>
            </a:r>
            <a:r>
              <a:rPr lang="es-ES" err="1"/>
              <a:t>you</a:t>
            </a:r>
            <a:r>
              <a:rPr lang="es-ES"/>
              <a:t>!</a:t>
            </a: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4792283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A8ECD1-788F-484B-9043-D957FCFDF1FA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0FE134-9032-4C7F-BC57-C7DE3F833363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Pantalla panoràmica</PresentationFormat>
  <Slides>15</Slides>
  <Notes>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Títols de les diapositives</vt:lpstr>
      </vt:variant>
      <vt:variant>
        <vt:i4>15</vt:i4>
      </vt:variant>
    </vt:vector>
  </HeadingPairs>
  <TitlesOfParts>
    <vt:vector size="16" baseType="lpstr">
      <vt:lpstr>Personalizar</vt:lpstr>
      <vt:lpstr>AI Project2: Labelling</vt:lpstr>
      <vt:lpstr>Agenda</vt:lpstr>
      <vt:lpstr>Problem Introduction</vt:lpstr>
      <vt:lpstr>Modifications – KNN </vt:lpstr>
      <vt:lpstr>Modifications – KNN </vt:lpstr>
      <vt:lpstr>Modifications – KNN </vt:lpstr>
      <vt:lpstr>Modifications – KMeans I</vt:lpstr>
      <vt:lpstr>Modifications – KMeans I</vt:lpstr>
      <vt:lpstr>Modifications – KMeans I</vt:lpstr>
      <vt:lpstr>Modifications – KMeans II</vt:lpstr>
      <vt:lpstr>Modifications – KMeans II</vt:lpstr>
      <vt:lpstr>Shape accuracy</vt:lpstr>
      <vt:lpstr>Color accuracy  Kmeans(K=6,threshold=0.1,km_init="first") Overall accuracy: 48.4% </vt:lpstr>
      <vt:lpstr>Color and shape retrieval Using: Knn(K=3), Kmeans(K=6,threshold=0.1,km_init="first")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2025-05-19T18:39:08Z</dcterms:created>
  <dcterms:modified xsi:type="dcterms:W3CDTF">2025-05-19T21:42:56Z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